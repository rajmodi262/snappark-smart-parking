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7772400" y="-274320"/>
            <a:ext cx="4754880" cy="3200400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5852160"/>
            <a:ext cx="13258800" cy="1371600"/>
          </a:xfrm>
          <a:prstGeom prst="rect">
            <a:avLst/>
          </a:prstGeom>
          <a:solidFill>
            <a:srgbClr val="15295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09728" cy="3200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412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27080" y="384048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7080" y="425196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0412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7080" y="466344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8116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27080" y="507492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0412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5486400"/>
            <a:ext cx="64008" cy="6400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10515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SNAPPARK</a:t>
            </a:r>
            <a:endParaRPr lang="en-US" sz="8800" dirty="0"/>
          </a:p>
        </p:txBody>
      </p:sp>
      <p:sp>
        <p:nvSpPr>
          <p:cNvPr id="46" name="Text 44"/>
          <p:cNvSpPr/>
          <p:nvPr/>
        </p:nvSpPr>
        <p:spPr>
          <a:xfrm>
            <a:off x="3346704" y="105156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8800" dirty="0"/>
          </a:p>
        </p:txBody>
      </p:sp>
      <p:sp>
        <p:nvSpPr>
          <p:cNvPr id="47" name="Text 45"/>
          <p:cNvSpPr/>
          <p:nvPr/>
        </p:nvSpPr>
        <p:spPr>
          <a:xfrm>
            <a:off x="640080" y="2331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4008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Slot Tracking  ·  Surge Pricing  ·  QR Mobile Check-In  ·  Fine Management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4360" y="342900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4290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Modi  ·  Aaditya Sinha  ·  Rohit Harishchandre  ·  Levinesh GR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Suhas Joshi  |  MIT-WPU, Pune  |  2025–2026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01200" y="32004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21 + JavaFX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0120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 + Neon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 Solve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3520440" cy="1828800"/>
          </a:xfrm>
          <a:prstGeom prst="rect">
            <a:avLst/>
          </a:prstGeom>
          <a:solidFill>
            <a:srgbClr val="152952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3520440" cy="201168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81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Manual Slot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20299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— attendants rely on clipboards, creating errors and double-assignments.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3520440" cy="182880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417320"/>
            <a:ext cx="3520440" cy="201168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481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💸  Flat-Rate Billing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79392" y="20299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spaces underpriced. Facilities lose revenue during rush hours with no demand-based pricing.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3520440" cy="182880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1417320"/>
            <a:ext cx="3520440" cy="20116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1481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No Mobile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82712" y="20299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owners must interact in person for every transaction. Zero contactless checkout option.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58568" y="3429000"/>
            <a:ext cx="3520440" cy="1828800"/>
          </a:xfrm>
          <a:prstGeom prst="rect">
            <a:avLst/>
          </a:prstGeom>
          <a:solidFill>
            <a:srgbClr val="152952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58568" y="3429000"/>
            <a:ext cx="3520440" cy="201168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Concurrency Conflicts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041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attendants can assign the same slot simultaneously — zero locking mechanism protection.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61888" y="3429000"/>
            <a:ext cx="3520440" cy="182880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61888" y="3429000"/>
            <a:ext cx="3520440" cy="201168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Zero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4041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occupancy history, no revenue breakdown, no peak-hour insight for facility managers.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5486400"/>
            <a:ext cx="11338560" cy="1051560"/>
          </a:xfrm>
          <a:prstGeom prst="rect">
            <a:avLst/>
          </a:prstGeom>
          <a:solidFill>
            <a:srgbClr val="15295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5559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828800" y="6035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triage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5559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₹11B+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623560" y="6035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parking mgmt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5559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418320" y="6035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5577840"/>
            <a:ext cx="0" cy="868680"/>
          </a:xfrm>
          <a:prstGeom prst="line">
            <a:avLst/>
          </a:prstGeom>
          <a:noFill/>
          <a:ln w="1270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5577840"/>
            <a:ext cx="0" cy="868680"/>
          </a:xfrm>
          <a:prstGeom prst="line">
            <a:avLst/>
          </a:prstGeom>
          <a:noFill/>
          <a:ln w="12700">
            <a:solidFill>
              <a:srgbClr val="00A8CC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SnapPark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029200" cy="521208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02920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SnapPark?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software-defined smart parking management platform built entirely in Java 21.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268833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334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desktop kiosk for facility staff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00837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QR web access — no app install needed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32841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735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pricing with 6 time + 4 occupancy tiers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364845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5935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slot locking (ConcurrentHashMap)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396849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136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roles: Admin, Manager, Attendant, Owner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428853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2336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Neon PostgreSQL cloud backend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460857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53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36-state Indian license plate decoder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492861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8737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management: Wrong Park · Overtime · Damage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1325880"/>
            <a:ext cx="283464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1325880"/>
            <a:ext cx="28346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828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5806440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1325880"/>
            <a:ext cx="283464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0" y="1325880"/>
            <a:ext cx="283464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1828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8961120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 Codes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977640"/>
            <a:ext cx="283464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3977640"/>
            <a:ext cx="283464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480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× 4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5806440" y="5486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Pricing Tiers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61120" y="3977640"/>
            <a:ext cx="283464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61120" y="3977640"/>
            <a:ext cx="2834640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4480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8961120" y="5486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1430000" cy="1280160"/>
          </a:xfrm>
          <a:prstGeom prst="rect">
            <a:avLst/>
          </a:prstGeom>
          <a:solidFill>
            <a:srgbClr val="0D1E3A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5295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Desktop Kiosk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/ Manager / Attendant)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719072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5295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7190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HTML5 Web Pages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(Vehicle Owner via QR Scan)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719072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15295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190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Display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(ZXing BitMatrix)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2633472"/>
            <a:ext cx="0" cy="32004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71800"/>
            <a:ext cx="11430000" cy="1417320"/>
          </a:xfrm>
          <a:prstGeom prst="rect">
            <a:avLst/>
          </a:prstGeom>
          <a:solidFill>
            <a:srgbClr val="0D1E3A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SurgePricingService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(6×4 tiers)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86584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(ConcurrentHashMap)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70248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(Grace period + Midnight edge)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53912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PlateDecoderService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 states)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37576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violation types)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921240" y="3383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52952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21240" y="3383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(jBCrypt cost-10)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4425696"/>
            <a:ext cx="0" cy="32004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754880"/>
            <a:ext cx="11430000" cy="1508760"/>
          </a:xfrm>
          <a:prstGeom prst="rect">
            <a:avLst/>
          </a:prstGeom>
          <a:solidFill>
            <a:srgbClr val="0D1E3A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5138928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9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13892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17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(Production — SSL JDBC)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5138928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9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513892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Dev)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83880" y="5138928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9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513892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Schema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(sessions · slots · users · fines · transactions)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PRICING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Surge Pricing Engine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1338560" cy="77724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Rate  =  Base Rate (vehicle type)  ×  Time Multiplier  ×  Occupancy Multiplier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Time-of-Day Tiers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587752"/>
            <a:ext cx="5669280" cy="347472"/>
          </a:xfrm>
          <a:prstGeom prst="rect">
            <a:avLst/>
          </a:prstGeom>
          <a:solidFill>
            <a:srgbClr val="00A8CC">
              <a:alpha val="80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877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Band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587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2587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2587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44368"/>
            <a:ext cx="5669280" cy="365760"/>
          </a:xfrm>
          <a:prstGeom prst="rect">
            <a:avLst/>
          </a:prstGeom>
          <a:solidFill>
            <a:srgbClr val="152952"/>
          </a:solidFill>
          <a:ln w="12700">
            <a:solidFill>
              <a:srgbClr val="1529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– 04:59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2944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₹42.50/hr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5669280" cy="365760"/>
          </a:xfrm>
          <a:prstGeom prst="rect">
            <a:avLst/>
          </a:prstGeom>
          <a:solidFill>
            <a:srgbClr val="1A2F55"/>
          </a:solidFill>
          <a:ln w="12700">
            <a:solidFill>
              <a:srgbClr val="152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 – 07:59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33284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Bird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₹50.00/hr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712464"/>
            <a:ext cx="5669280" cy="365760"/>
          </a:xfrm>
          <a:prstGeom prst="rect">
            <a:avLst/>
          </a:prstGeom>
          <a:solidFill>
            <a:srgbClr val="1A3366"/>
          </a:solidFill>
          <a:ln w="12700">
            <a:solidFill>
              <a:srgbClr val="1529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124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11:59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20240" y="37124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7124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1.20×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3712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₹60.00/hr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096512"/>
            <a:ext cx="5669280" cy="365760"/>
          </a:xfrm>
          <a:prstGeom prst="rect">
            <a:avLst/>
          </a:prstGeom>
          <a:solidFill>
            <a:srgbClr val="1A2F55"/>
          </a:solidFill>
          <a:ln w="12700">
            <a:solidFill>
              <a:srgbClr val="1529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16:59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20240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0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1.00×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26280" y="4096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₹50.00/hr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480560"/>
            <a:ext cx="5669280" cy="365760"/>
          </a:xfrm>
          <a:prstGeom prst="rect">
            <a:avLst/>
          </a:prstGeom>
          <a:solidFill>
            <a:srgbClr val="1E3A0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– 20:59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20240" y="4480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Rush Hour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74720" y="4480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1.30×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2628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₹65.00/hr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4864608"/>
            <a:ext cx="5669280" cy="365760"/>
          </a:xfrm>
          <a:prstGeom prst="rect">
            <a:avLst/>
          </a:prstGeom>
          <a:solidFill>
            <a:srgbClr val="152952"/>
          </a:solidFill>
          <a:ln w="12700">
            <a:solidFill>
              <a:srgbClr val="1529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4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 – 23:59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20240" y="48646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Discount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74720" y="4864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0.90×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26280" y="4864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₹45.00/hr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2194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Occupancy Tiers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0" y="2587752"/>
            <a:ext cx="5303520" cy="347472"/>
          </a:xfrm>
          <a:prstGeom prst="rect">
            <a:avLst/>
          </a:prstGeom>
          <a:solidFill>
            <a:srgbClr val="00A8CC">
              <a:alpha val="80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2587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63840" y="2587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Occupancy 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46920" y="2587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2944368"/>
            <a:ext cx="5303520" cy="448056"/>
          </a:xfrm>
          <a:prstGeom prst="rect">
            <a:avLst/>
          </a:prstGeom>
          <a:solidFill>
            <a:srgbClr val="152952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3291840"/>
            <a:ext cx="5266944" cy="73152"/>
          </a:xfrm>
          <a:prstGeom prst="rect">
            <a:avLst/>
          </a:prstGeom>
          <a:solidFill>
            <a:srgbClr val="00E676">
              <a:alpha val="4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9443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863840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50%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64692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1.00×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0" y="3419856"/>
            <a:ext cx="5303520" cy="448056"/>
          </a:xfrm>
          <a:prstGeom prst="rect">
            <a:avLst/>
          </a:prstGeom>
          <a:solidFill>
            <a:srgbClr val="152952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19088" y="3767328"/>
            <a:ext cx="5266944" cy="7315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419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863840" y="34198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– 70%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646920" y="3419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1.15×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00800" y="3895344"/>
            <a:ext cx="5303520" cy="448056"/>
          </a:xfrm>
          <a:prstGeom prst="rect">
            <a:avLst/>
          </a:prstGeom>
          <a:solidFill>
            <a:srgbClr val="152952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4242816"/>
            <a:ext cx="5266944" cy="73152"/>
          </a:xfrm>
          <a:prstGeom prst="rect">
            <a:avLst/>
          </a:prstGeom>
          <a:solidFill>
            <a:srgbClr val="FFB800">
              <a:alpha val="4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38953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86384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– 85%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646920" y="3895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1.30×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00800" y="4370832"/>
            <a:ext cx="5303520" cy="448056"/>
          </a:xfrm>
          <a:prstGeom prst="rect">
            <a:avLst/>
          </a:prstGeom>
          <a:solidFill>
            <a:srgbClr val="152952"/>
          </a:solidFill>
          <a:ln w="15240">
            <a:solidFill>
              <a:srgbClr val="FF52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9088" y="4718304"/>
            <a:ext cx="5266944" cy="73152"/>
          </a:xfrm>
          <a:prstGeom prst="rect">
            <a:avLst/>
          </a:prstGeom>
          <a:solidFill>
            <a:srgbClr val="FF5252">
              <a:alpha val="4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4370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Full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7863840" y="4370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– 100%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964692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1.50×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11480" y="5230368"/>
            <a:ext cx="11338560" cy="640080"/>
          </a:xfrm>
          <a:prstGeom prst="roundRect">
            <a:avLst>
              <a:gd name="adj" fmla="val 11429"/>
            </a:avLst>
          </a:prstGeom>
          <a:solidFill>
            <a:srgbClr val="15295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5230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15-minute complimentary grace period  ·  Midnight-crossing handled correctly  ·  2-decimal precision rounding on all fees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System Modules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08760"/>
            <a:ext cx="548640" cy="548640"/>
          </a:xfrm>
          <a:prstGeom prst="ellipse">
            <a:avLst/>
          </a:prstGeom>
          <a:solidFill>
            <a:srgbClr val="FFB800">
              <a:alpha val="85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Surge Pricing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time + 4 occupancy tiers. Pure Java, no external ML. Handles grace, midnight, rounding.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00D4FF">
              <a:alpha val="8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2194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Concurrent Lock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697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ConcurrentHashMap.putIfAbsent() prevents double-assignment. 5-min timeout + auto-sweep daemon.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132588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508760"/>
            <a:ext cx="548640" cy="548640"/>
          </a:xfrm>
          <a:prstGeom prst="ellipse">
            <a:avLst/>
          </a:prstGeom>
          <a:solidFill>
            <a:srgbClr val="00E676">
              <a:alpha val="85000"/>
            </a:srgbClr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1656" y="2194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BCrypt Authentication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2697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roles: Admin · Manager · Attendant · Vehicle Owner. Cost-10 hash. Role-specific routing.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98864" y="132588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1508760"/>
            <a:ext cx="548640" cy="548640"/>
          </a:xfrm>
          <a:prstGeom prst="ellipse">
            <a:avLst/>
          </a:prstGeom>
          <a:solidFill>
            <a:srgbClr val="00A8CC">
              <a:alpha val="85000"/>
            </a:srgbClr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36024" y="2194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Mobile Access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36024" y="2697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BitMatrix. Embedded HTTP server port 8080. Zero-install entry/exit on smartphones.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4206240"/>
            <a:ext cx="548640" cy="548640"/>
          </a:xfrm>
          <a:prstGeom prst="ellipse">
            <a:avLst/>
          </a:prstGeom>
          <a:solidFill>
            <a:srgbClr val="FFB800">
              <a:alpha val="85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892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Plate Decoder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5394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 Indian states &amp; UTs. RTO-level city identification. Format validation with attendant alert.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402336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4206240"/>
            <a:ext cx="548640" cy="548640"/>
          </a:xfrm>
          <a:prstGeom prst="ellipse">
            <a:avLst/>
          </a:prstGeom>
          <a:solidFill>
            <a:srgbClr val="FF5252">
              <a:alpha val="85000"/>
            </a:srgbClr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47288" y="4892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47288" y="5394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Parking ₹200 · Overtime ₹100/hr · Damage (variable). Auto-collected at exit.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402336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9088" y="4206240"/>
            <a:ext cx="548640" cy="548640"/>
          </a:xfrm>
          <a:prstGeom prst="ellipse">
            <a:avLst/>
          </a:prstGeom>
          <a:solidFill>
            <a:srgbClr val="00D4FF">
              <a:alpha val="8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91656" y="4892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91656" y="5394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vehicle type, occupancy heatmap, session trends, peak-hour analytics.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98864" y="4023360"/>
            <a:ext cx="2743200" cy="24231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63456" y="4206240"/>
            <a:ext cx="548640" cy="548640"/>
          </a:xfrm>
          <a:prstGeom prst="ellipse">
            <a:avLst/>
          </a:prstGeom>
          <a:solidFill>
            <a:srgbClr val="00E676">
              <a:alpha val="85000"/>
            </a:srgbClr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63456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36024" y="4892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Slot Recommendation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36024" y="5394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4-criteria scoring: vehicle fit · proximity · row spread · floor preference.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3611880" cy="41148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856232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" y="2267712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21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ES2022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679192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33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3090672"/>
            <a:ext cx="73152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449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24528" y="132588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24528" y="1325880"/>
            <a:ext cx="3611880" cy="411480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325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/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85623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1810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21 + FXML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226771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2221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com.sun.net.httpserver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0" y="267919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2633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REST Endpoints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09067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449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jBCrypt 0.4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83296" y="132588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83296" y="1325880"/>
            <a:ext cx="3611880" cy="411480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0456" y="1325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47888" y="1856232"/>
            <a:ext cx="73152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1810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(Neon)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47888" y="2267712"/>
            <a:ext cx="73152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2221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(Dev)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47888" y="2679192"/>
            <a:ext cx="73152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2633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(SSL)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47888" y="3090672"/>
            <a:ext cx="73152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30449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Schema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397764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977640"/>
            <a:ext cx="3611880" cy="411480"/>
          </a:xfrm>
          <a:prstGeom prst="rect">
            <a:avLst/>
          </a:prstGeom>
          <a:solidFill>
            <a:srgbClr val="00A8CC">
              <a:alpha val="80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/ Mobile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" y="4507992"/>
            <a:ext cx="73152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462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Mobile Pages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30352" y="4919472"/>
            <a:ext cx="73152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873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Scene Graph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30352" y="5330952"/>
            <a:ext cx="73152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285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QR Codes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30352" y="5742432"/>
            <a:ext cx="73152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696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Dark Theming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24528" y="397764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224528" y="3977640"/>
            <a:ext cx="3611880" cy="411480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61688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 &amp; Tools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89120" y="450799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44568" y="4462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 3.x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389120" y="491947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44568" y="4873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389120" y="533095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44568" y="5285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389120" y="5742432"/>
            <a:ext cx="73152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44568" y="5696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+ Swagger UI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083296" y="3977640"/>
            <a:ext cx="3611880" cy="2377440"/>
          </a:xfrm>
          <a:prstGeom prst="rect">
            <a:avLst/>
          </a:prstGeom>
          <a:solidFill>
            <a:srgbClr val="152952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083296" y="3977640"/>
            <a:ext cx="3611880" cy="411480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0456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247888" y="4507992"/>
            <a:ext cx="73152" cy="228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03336" y="4462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(pooling)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247888" y="4919472"/>
            <a:ext cx="73152" cy="228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03336" y="4873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(JSON)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247888" y="5330952"/>
            <a:ext cx="73152" cy="228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03336" y="5285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+ Logback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247888" y="5742432"/>
            <a:ext cx="73152" cy="228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403336" y="5696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1.18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Business Use Cases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1430000" cy="960120"/>
          </a:xfrm>
          <a:prstGeom prst="rect">
            <a:avLst/>
          </a:prstGeom>
          <a:solidFill>
            <a:srgbClr val="15295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91440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Shopping 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Shoppers circle aisles during peak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1490472"/>
            <a:ext cx="0" cy="640080"/>
          </a:xfrm>
          <a:prstGeom prst="line">
            <a:avLst/>
          </a:prstGeom>
          <a:noFill/>
          <a:ln w="1016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4173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slot dashboard + QR mobile check-in bypasses barrier queue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11430000" cy="960120"/>
          </a:xfrm>
          <a:prstGeom prst="rect">
            <a:avLst/>
          </a:prstGeom>
          <a:solidFill>
            <a:srgbClr val="152952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86584"/>
            <a:ext cx="91440" cy="9601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86584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4597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Corporate Campus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Monthly-pass staff vs visitors sharing lots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551176"/>
            <a:ext cx="0" cy="640080"/>
          </a:xfrm>
          <a:prstGeom prst="line">
            <a:avLst/>
          </a:prstGeom>
          <a:noFill/>
          <a:ln w="1016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47802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Session tracking flags overtime; FineService raises hourly penalty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47288"/>
            <a:ext cx="11430000" cy="960120"/>
          </a:xfrm>
          <a:prstGeom prst="rect">
            <a:avLst/>
          </a:prstGeom>
          <a:solidFill>
            <a:srgbClr val="152952"/>
          </a:solidFill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47288"/>
            <a:ext cx="91440" cy="9601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47288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Airport Short-Stay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Flat rates under-price peak spaces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3611880"/>
            <a:ext cx="0" cy="640080"/>
          </a:xfrm>
          <a:prstGeom prst="line">
            <a:avLst/>
          </a:prstGeom>
          <a:noFill/>
          <a:ln w="10160">
            <a:solidFill>
              <a:srgbClr val="00E67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53872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Configurable surge multipliers drive revenue uplift at peak hours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07992"/>
            <a:ext cx="11430000" cy="960120"/>
          </a:xfrm>
          <a:prstGeom prst="rect">
            <a:avLst/>
          </a:prstGeom>
          <a:solidFill>
            <a:srgbClr val="152952"/>
          </a:solidFill>
          <a:ln w="1524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507992"/>
            <a:ext cx="91440" cy="9601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07992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4581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Hospital Visitor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010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 attendant during night shifts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672584"/>
            <a:ext cx="0" cy="640080"/>
          </a:xfrm>
          <a:prstGeom prst="line">
            <a:avLst/>
          </a:prstGeom>
          <a:noFill/>
          <a:ln w="10160">
            <a:solidFill>
              <a:srgbClr val="00A8C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459943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Contactless self-service QR check-in — session recorded automatically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568696"/>
            <a:ext cx="11430000" cy="960120"/>
          </a:xfrm>
          <a:prstGeom prst="rect">
            <a:avLst/>
          </a:prstGeom>
          <a:solidFill>
            <a:srgbClr val="152952"/>
          </a:solidFill>
          <a:ln w="1524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5568696"/>
            <a:ext cx="91440" cy="9601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568696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🚆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71600" y="5641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 Long-Stay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6071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Long-stay vehicles block short-stay spaces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5733288"/>
            <a:ext cx="0" cy="640080"/>
          </a:xfrm>
          <a:prstGeom prst="line">
            <a:avLst/>
          </a:prstGeom>
          <a:noFill/>
          <a:ln w="10160">
            <a:solidFill>
              <a:srgbClr val="FF5252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566013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Overtime fines incentivise timely exit; night discount rewards off-peak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Metrics &amp; Outcomes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3383280"/>
            <a:ext cx="2743200" cy="13716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6243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(Swagger documented)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3383280"/>
            <a:ext cx="2743200" cy="137160"/>
          </a:xfrm>
          <a:prstGeom prst="rect">
            <a:avLst/>
          </a:prstGeom>
          <a:solidFill>
            <a:srgbClr val="FFB800">
              <a:alpha val="7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645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429000" y="26243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 &amp; 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Decoded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3383280"/>
            <a:ext cx="2743200" cy="137160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45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00800" y="26243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132588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3383280"/>
            <a:ext cx="2743200" cy="137160"/>
          </a:xfrm>
          <a:prstGeom prst="rect">
            <a:avLst/>
          </a:prstGeom>
          <a:solidFill>
            <a:srgbClr val="00A8CC">
              <a:alpha val="70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645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372600" y="26243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Tiers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5852160"/>
            <a:ext cx="2743200" cy="137160"/>
          </a:xfrm>
          <a:prstGeom prst="rect">
            <a:avLst/>
          </a:prstGeom>
          <a:solidFill>
            <a:srgbClr val="FFB800">
              <a:alpha val="7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200–500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457200" y="5093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API Response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(warm Neon instance)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79476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5852160"/>
            <a:ext cx="2743200" cy="137160"/>
          </a:xfrm>
          <a:prstGeom prst="rect">
            <a:avLst/>
          </a:prstGeom>
          <a:solidFill>
            <a:srgbClr val="FF5252">
              <a:alpha val="7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3429000" y="5093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Types: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· ₹100/hr · var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79476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5852160"/>
            <a:ext cx="2743200" cy="13716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148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6400800" y="5093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with GitHub commits)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81160" y="3794760"/>
            <a:ext cx="2743200" cy="219456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81160" y="5852160"/>
            <a:ext cx="2743200" cy="137160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41148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9372600" y="5093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Auth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CHALLENGES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Resolutions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solidFill>
            <a:srgbClr val="152952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2984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89320" y="1298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61320" y="1298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30000" cy="749808"/>
          </a:xfrm>
          <a:prstGeom prst="rect">
            <a:avLst/>
          </a:prstGeom>
          <a:solidFill>
            <a:srgbClr val="152952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916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70992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JDBC SSL URL mismatch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1888" y="1783080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70992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Reconstructed full JDBC URL from Neon dashboard — added ?sslmode=require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0" y="1892808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18928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1143000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96312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" y="2587752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51460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Thread violations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61888" y="2587752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25146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Wrapped all DAO ops in Task&lt;&gt; with Platform.runLater() for UI updates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0" y="269748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00984"/>
            <a:ext cx="11430000" cy="749808"/>
          </a:xfrm>
          <a:prstGeom prst="rect">
            <a:avLst/>
          </a:prstGeom>
          <a:solidFill>
            <a:srgbClr val="152952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00984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" y="3392424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33192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session number on JVM restart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61888" y="3392424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33192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Replaced static AtomicLong counter with DB MAX()+1 query at startup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15600" y="3502152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3502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105656"/>
            <a:ext cx="1143000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10565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" y="4197096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412394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NullPointerException on SLA deadline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61888" y="4197096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412394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Replaced all Map.of() builders with LinkedHashMap (accepts null values)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515600" y="430682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0" y="43068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910328"/>
            <a:ext cx="11430000" cy="749808"/>
          </a:xfrm>
          <a:prstGeom prst="rect">
            <a:avLst/>
          </a:prstGeom>
          <a:solidFill>
            <a:srgbClr val="152952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91032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4672" y="5001768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92861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binding to loopback only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61888" y="5001768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49286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Changed InetSocketAddress to 0.0.0.0:8080 for LAN reachability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515600" y="5111496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0" y="51114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5715000"/>
            <a:ext cx="1143000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529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57150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4672" y="5806440"/>
            <a:ext cx="54864" cy="5669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" y="573328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 committed to GitHub (+2,754 files)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61888" y="5806440"/>
            <a:ext cx="54864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57332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Moved .gitignore to root; ran git rm -r --cached .; re-staged files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515600" y="5916168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0" y="5916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FUTURE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669280" cy="521208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669280" cy="45720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2588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 —  Quality &amp;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Camera-based ANPR (auto number plate recognition)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4261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UPI &amp; card payment gateway integration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6499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Scheduled overstay SMS alerts (10 min before max stay)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8736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Pre-booking web portal with QR reservation code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974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974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Business API for PIN requests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53212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Dynamic rate configuration UI (no code edits)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325880"/>
            <a:ext cx="5669280" cy="521208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325880"/>
            <a:ext cx="5669280" cy="457200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32588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 —  Advanced Platform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192024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92024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WebSocket real-time slot push to mobile clients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2642616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64261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Barrier hardware interface (GPIO/serial)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3364992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36499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Digital signage with floor map &amp; slot number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08736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08736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Multi-floor 3D occupancy view in Admin dashboard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4809744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80974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Native Android app (same REST endpoints)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37960" y="553212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762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53212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Multi-tenant SaaS + Loyalty programme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FFB800">
              <a:alpha val="1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 Behind SnapPark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577840" cy="2011680"/>
          </a:xfrm>
          <a:prstGeom prst="rect">
            <a:avLst/>
          </a:prstGeom>
          <a:solidFill>
            <a:srgbClr val="15295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1188720" cy="1188720"/>
          </a:xfrm>
          <a:prstGeom prst="ellipse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Raj Modi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1032232965  ·  Full Stack + Deployment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ParkingService · LockManager · LockSweeper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577840" cy="2011680"/>
          </a:xfrm>
          <a:prstGeom prst="rect">
            <a:avLst/>
          </a:prstGeom>
          <a:solidFill>
            <a:srgbClr val="152952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691640"/>
            <a:ext cx="1188720" cy="1188720"/>
          </a:xfrm>
          <a:prstGeom prst="ellipse">
            <a:avLst/>
          </a:prstGeom>
          <a:solidFill>
            <a:srgbClr val="FFB800">
              <a:alpha val="80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0" y="1554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Aaditya Sinha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1032232955  ·  Backend Developer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AnalyticsController · track-ticket.html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577840" cy="2011680"/>
          </a:xfrm>
          <a:prstGeom prst="rect">
            <a:avLst/>
          </a:prstGeom>
          <a:solidFill>
            <a:srgbClr val="1529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977640"/>
            <a:ext cx="1188720" cy="1188720"/>
          </a:xfrm>
          <a:prstGeom prst="ellipse">
            <a:avLst/>
          </a:prstGeom>
          <a:solidFill>
            <a:srgbClr val="00E676">
              <a:alpha val="80000"/>
            </a:srgbClr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RH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920240" y="3840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Rohit Harishchandre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2024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1032232803  ·  Backend Developer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SecurityConfig · JwtUtils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3657600"/>
            <a:ext cx="5577840" cy="2011680"/>
          </a:xfrm>
          <a:prstGeom prst="rect">
            <a:avLst/>
          </a:prstGeom>
          <a:solidFill>
            <a:srgbClr val="152952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977640"/>
            <a:ext cx="1188720" cy="1188720"/>
          </a:xfrm>
          <a:prstGeom prst="ellipse">
            <a:avLst/>
          </a:prstGeom>
          <a:solidFill>
            <a:srgbClr val="00A8CC">
              <a:alpha val="80000"/>
            </a:srgbClr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977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772400" y="3840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Levinesh GR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1032232546  ·  Full Stack Developer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BillingService · SurgePricingService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715000"/>
            <a:ext cx="11430000" cy="868680"/>
          </a:xfrm>
          <a:prstGeom prst="rect">
            <a:avLst/>
          </a:prstGeom>
          <a:solidFill>
            <a:srgbClr val="15295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Suhas Joshi   |   MIT-WPU — School of Computer Science &amp; Engineering   |   CSE-AIDS Sem VI   |   2025–2026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2026-04-20T10:08:38Z</dcterms:created>
  <dcterms:modified xsi:type="dcterms:W3CDTF">2026-04-20T10:08:38Z</dcterms:modified>
</cp:coreProperties>
</file>